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6"/>
  </p:notesMasterIdLst>
  <p:sldIdLst>
    <p:sldId id="283" r:id="rId2"/>
    <p:sldId id="257" r:id="rId3"/>
    <p:sldId id="282" r:id="rId4"/>
    <p:sldId id="285" r:id="rId5"/>
    <p:sldId id="278" r:id="rId6"/>
    <p:sldId id="281" r:id="rId7"/>
    <p:sldId id="279" r:id="rId8"/>
    <p:sldId id="298" r:id="rId9"/>
    <p:sldId id="264" r:id="rId10"/>
    <p:sldId id="290" r:id="rId11"/>
    <p:sldId id="286" r:id="rId12"/>
    <p:sldId id="299" r:id="rId13"/>
    <p:sldId id="280" r:id="rId14"/>
    <p:sldId id="297" r:id="rId15"/>
    <p:sldId id="288" r:id="rId16"/>
    <p:sldId id="296" r:id="rId17"/>
    <p:sldId id="289" r:id="rId18"/>
    <p:sldId id="300" r:id="rId19"/>
    <p:sldId id="301" r:id="rId20"/>
    <p:sldId id="302" r:id="rId21"/>
    <p:sldId id="303" r:id="rId22"/>
    <p:sldId id="304" r:id="rId23"/>
    <p:sldId id="305" r:id="rId24"/>
    <p:sldId id="27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4660"/>
  </p:normalViewPr>
  <p:slideViewPr>
    <p:cSldViewPr snapToGrid="0">
      <p:cViewPr varScale="1">
        <p:scale>
          <a:sx n="105" d="100"/>
          <a:sy n="105"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6602F91-9973-95C4-D967-589EED7368E3}"/>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CBDBBB1-DEDD-8E75-CBA8-B25FD606B2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2CE3B0-38B7-629D-115C-68FA14B97A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6143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3DAA7A9F-CC03-951B-0FD7-41BEC6158B7D}"/>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4FCB715F-DFC4-2F4D-1F79-8154FC23B9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17C8A148-4B0F-CB35-E01E-5C3D888F5A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8253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akthiganesan06/VenturePilot-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venturepilot-ai-jtqc.onrender.com/"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extLst>
              <p:ext uri="{D42A27DB-BD31-4B8C-83A1-F6EECF244321}">
                <p14:modId xmlns:p14="http://schemas.microsoft.com/office/powerpoint/2010/main" val="252031824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1"/>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SAKTHI G</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sakthi30116@gmail.com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9942220999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highlight>
                  <a:srgbClr val="FFFF00"/>
                </a:highlight>
              </a:rPr>
              <a:t>Entrepreneurship &amp; Business Intelligence</a:t>
            </a:r>
            <a:endParaRPr lang="en-IN" sz="2400" b="1" dirty="0">
              <a:highlight>
                <a:srgbClr val="FFFF00"/>
              </a:highlight>
            </a:endParaRPr>
          </a:p>
        </p:txBody>
      </p:sp>
      <p:sp>
        <p:nvSpPr>
          <p:cNvPr id="7" name="TextBox 6"/>
          <p:cNvSpPr txBox="1"/>
          <p:nvPr/>
        </p:nvSpPr>
        <p:spPr>
          <a:xfrm>
            <a:off x="1206162" y="551965"/>
            <a:ext cx="9581177" cy="1077218"/>
          </a:xfrm>
          <a:prstGeom prst="rect">
            <a:avLst/>
          </a:prstGeom>
          <a:noFill/>
        </p:spPr>
        <p:txBody>
          <a:bodyPr wrap="square" rtlCol="0">
            <a:spAutoFit/>
          </a:bodyPr>
          <a:lstStyle/>
          <a:p>
            <a:r>
              <a:rPr lang="en-US" sz="2400" b="1" dirty="0"/>
              <a:t>Project Tile – </a:t>
            </a:r>
            <a:r>
              <a:rPr lang="en-US" sz="2400" b="1" dirty="0" err="1">
                <a:solidFill>
                  <a:srgbClr val="002060"/>
                </a:solidFill>
                <a:highlight>
                  <a:srgbClr val="FFFF00"/>
                </a:highlight>
                <a:latin typeface="Times New Roman" panose="02020603050405020304"/>
                <a:cs typeface="Times New Roman" panose="02020603050405020304"/>
                <a:sym typeface="Times New Roman" panose="02020603050405020304"/>
              </a:rPr>
              <a:t>VenturePilot</a:t>
            </a:r>
            <a:r>
              <a:rPr lang="en-US" sz="2400" b="1" dirty="0">
                <a:solidFill>
                  <a:srgbClr val="002060"/>
                </a:solidFill>
                <a:highlight>
                  <a:srgbClr val="FFFF00"/>
                </a:highlight>
                <a:latin typeface="Times New Roman" panose="02020603050405020304"/>
                <a:cs typeface="Times New Roman" panose="02020603050405020304"/>
                <a:sym typeface="Times New Roman" panose="02020603050405020304"/>
              </a:rPr>
              <a:t> AI</a:t>
            </a:r>
          </a:p>
          <a:p>
            <a:r>
              <a:rPr lang="en-US" b="1" cap="all" dirty="0"/>
              <a:t>                                        </a:t>
            </a:r>
            <a:r>
              <a:rPr lang="en-US" sz="1600" b="1" cap="all" dirty="0"/>
              <a:t>From Idea to Investment — Powered by AI</a:t>
            </a:r>
            <a:endParaRPr lang="en-US" sz="1600" b="1" dirty="0">
              <a:solidFill>
                <a:srgbClr val="002060"/>
              </a:solidFill>
              <a:highlight>
                <a:srgbClr val="FFFF00"/>
              </a:highlight>
              <a:latin typeface="Times New Roman" panose="02020603050405020304"/>
              <a:cs typeface="Times New Roman" panose="02020603050405020304"/>
              <a:sym typeface="Times New Roman" panose="02020603050405020304"/>
            </a:endParaRPr>
          </a:p>
          <a:p>
            <a:endParaRPr lang="en-IN" sz="2400" b="1" dirty="0">
              <a:highlight>
                <a:srgbClr val="FFFF00"/>
              </a:highlight>
            </a:endParaRPr>
          </a:p>
        </p:txBody>
      </p:sp>
      <p:pic>
        <p:nvPicPr>
          <p:cNvPr id="3" name="Picture 2">
            <a:extLst>
              <a:ext uri="{FF2B5EF4-FFF2-40B4-BE49-F238E27FC236}">
                <a16:creationId xmlns:a16="http://schemas.microsoft.com/office/drawing/2014/main" id="{58118C1B-0BCA-AF9E-59D9-D0BA9C8334C7}"/>
              </a:ext>
            </a:extLst>
          </p:cNvPr>
          <p:cNvPicPr>
            <a:picLocks noChangeAspect="1"/>
          </p:cNvPicPr>
          <p:nvPr/>
        </p:nvPicPr>
        <p:blipFill>
          <a:blip r:embed="rId3"/>
          <a:stretch>
            <a:fillRect/>
          </a:stretch>
        </p:blipFill>
        <p:spPr>
          <a:xfrm>
            <a:off x="4154093" y="3668095"/>
            <a:ext cx="719659" cy="92208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862870"/>
          </a:xfrm>
          <a:prstGeom prst="rect">
            <a:avLst/>
          </a:prstGeom>
          <a:noFill/>
        </p:spPr>
        <p:txBody>
          <a:bodyPr wrap="square" rtlCol="0">
            <a:spAutoFit/>
          </a:bodyPr>
          <a:lstStyle/>
          <a:p>
            <a:pPr algn="just"/>
            <a:r>
              <a:rPr lang="en-US" sz="1600" b="1" dirty="0"/>
              <a:t>Problem Statement: Startup Blueprint Generator Agent</a:t>
            </a:r>
          </a:p>
          <a:p>
            <a:pPr algn="just"/>
            <a:endParaRPr lang="en-US" sz="1600" b="1" dirty="0"/>
          </a:p>
          <a:p>
            <a:pPr algn="just"/>
            <a:r>
              <a:rPr lang="en-US" sz="1600" b="1" dirty="0"/>
              <a:t>The Challenge</a:t>
            </a:r>
          </a:p>
          <a:p>
            <a:pPr algn="just"/>
            <a:endParaRPr lang="en-US" sz="1600" b="1" dirty="0"/>
          </a:p>
          <a:p>
            <a:pPr algn="just"/>
            <a:r>
              <a:rPr lang="en-US" dirty="0"/>
              <a:t>Many people have great startup ideas but don't know how to turn them into successful businesses. Information about market research, competitors, funding, government schemes, and legal requirements is spread across different sources. Without proper guidance, entrepreneurs struggle to create a clear business plan and attract investors.</a:t>
            </a:r>
          </a:p>
          <a:p>
            <a:pPr algn="just"/>
            <a:endParaRPr lang="en-US" sz="1600" dirty="0"/>
          </a:p>
          <a:p>
            <a:pPr algn="just"/>
            <a:r>
              <a:rPr lang="en-US" sz="1600" b="1" dirty="0"/>
              <a:t>The Objective</a:t>
            </a:r>
          </a:p>
          <a:p>
            <a:pPr algn="just"/>
            <a:endParaRPr lang="en-US" sz="1600" b="1" dirty="0"/>
          </a:p>
          <a:p>
            <a:pPr algn="just"/>
            <a:r>
              <a:rPr lang="en-US" dirty="0"/>
              <a:t>Build an </a:t>
            </a:r>
            <a:r>
              <a:rPr lang="en-US" b="1" dirty="0"/>
              <a:t>AI-powered Startup Blueprint Generator Agent</a:t>
            </a:r>
            <a:r>
              <a:rPr lang="en-US" dirty="0"/>
              <a:t> that helps users convert their startup ideas into complete business plans using </a:t>
            </a:r>
            <a:r>
              <a:rPr lang="en-US" b="1" dirty="0"/>
              <a:t>IBM Granite</a:t>
            </a:r>
            <a:r>
              <a:rPr lang="en-US" dirty="0"/>
              <a:t> and </a:t>
            </a:r>
            <a:r>
              <a:rPr lang="en-US" b="1" dirty="0"/>
              <a:t>RAG</a:t>
            </a:r>
            <a:r>
              <a:rPr lang="en-US" dirty="0"/>
              <a:t>. The solution should:</a:t>
            </a:r>
          </a:p>
          <a:p>
            <a:pPr algn="just"/>
            <a:r>
              <a:rPr lang="en-US" b="1" dirty="0"/>
              <a:t>Startup Analysis</a:t>
            </a:r>
            <a:r>
              <a:rPr lang="en-US" dirty="0"/>
              <a:t> – Understand the user's startup idea and identify the business domain and target customers. </a:t>
            </a:r>
          </a:p>
          <a:p>
            <a:pPr algn="just"/>
            <a:r>
              <a:rPr lang="en-US" b="1" dirty="0"/>
              <a:t>RAG Knowledge Retrieval</a:t>
            </a:r>
            <a:r>
              <a:rPr lang="en-US" dirty="0"/>
              <a:t> – Retrieve market research, competitor information, government schemes, funding options, and legal requirements from reliable documents. </a:t>
            </a:r>
          </a:p>
          <a:p>
            <a:pPr algn="just"/>
            <a:r>
              <a:rPr lang="en-US" b="1" dirty="0"/>
              <a:t>Business Blueprint Generation</a:t>
            </a:r>
            <a:r>
              <a:rPr lang="en-US" dirty="0"/>
              <a:t> – Generate a complete business plan with a business model, budget, revenue model, marketing strategy, and implementation roadmap. </a:t>
            </a:r>
          </a:p>
          <a:p>
            <a:pPr algn="just"/>
            <a:r>
              <a:rPr lang="en-US" b="1" dirty="0"/>
              <a:t>Funding Guidance</a:t>
            </a:r>
            <a:r>
              <a:rPr lang="en-US" dirty="0"/>
              <a:t> – Recommend suitable investors, grants, incubators, and government schemes. </a:t>
            </a:r>
          </a:p>
          <a:p>
            <a:pPr algn="just"/>
            <a:r>
              <a:rPr lang="en-US" b="1" dirty="0"/>
              <a:t>Interactive Dashboard</a:t>
            </a:r>
            <a:r>
              <a:rPr lang="en-US" dirty="0"/>
              <a:t> – Display startup score, market potential, budget allocation, revenue forecast, competitor analysis, and roadmap through charts and visual cards</a:t>
            </a:r>
          </a:p>
          <a:p>
            <a:pPr algn="just"/>
            <a:endParaRPr lang="en-IN" sz="1600" dirty="0"/>
          </a:p>
        </p:txBody>
      </p:sp>
      <p:sp>
        <p:nvSpPr>
          <p:cNvPr id="3" name="TextBox 2"/>
          <p:cNvSpPr txBox="1"/>
          <p:nvPr/>
        </p:nvSpPr>
        <p:spPr>
          <a:xfrm>
            <a:off x="576072" y="493776"/>
            <a:ext cx="7214616" cy="523220"/>
          </a:xfrm>
          <a:prstGeom prst="rect">
            <a:avLst/>
          </a:prstGeom>
          <a:noFill/>
        </p:spPr>
        <p:txBody>
          <a:bodyPr wrap="square" rtlCol="0">
            <a:spAutoFit/>
          </a:bodyPr>
          <a:lstStyle/>
          <a:p>
            <a:r>
              <a:rPr lang="en-US" sz="2800" b="1" dirty="0"/>
              <a:t>Problem Statement – 20 </a:t>
            </a:r>
            <a:endParaRPr lang="en-IN" sz="28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68452" y="1042416"/>
            <a:ext cx="11055096" cy="5693866"/>
          </a:xfrm>
          <a:prstGeom prst="rect">
            <a:avLst/>
          </a:prstGeom>
          <a:noFill/>
        </p:spPr>
        <p:txBody>
          <a:bodyPr wrap="square" rtlCol="0">
            <a:spAutoFit/>
          </a:bodyPr>
          <a:lstStyle/>
          <a:p>
            <a:pPr algn="just"/>
            <a:r>
              <a:rPr lang="en-US" dirty="0"/>
              <a:t>The proposed solution is a </a:t>
            </a:r>
            <a:r>
              <a:rPr lang="en-US" b="1" dirty="0"/>
              <a:t>multi-agent AI-powered Startup Blueprint Generator</a:t>
            </a:r>
            <a:r>
              <a:rPr lang="en-US" dirty="0"/>
              <a:t> built using </a:t>
            </a:r>
            <a:r>
              <a:rPr lang="en-US" b="1" dirty="0"/>
              <a:t>Python Flask, IBM watsonx.ai, IBM Granite Models, and IBM Cloud Object Storage</a:t>
            </a:r>
            <a:r>
              <a:rPr lang="en-US" dirty="0"/>
              <a:t> to help entrepreneurs transform startup ideas into complete, investor-ready business blueprints. The system addresses challenges in business planning, market research, funding discovery, and legal compliance through an intelligent, modular architecture.</a:t>
            </a:r>
          </a:p>
          <a:p>
            <a:pPr algn="just"/>
            <a:r>
              <a:rPr lang="en-US" dirty="0"/>
              <a:t>At its core, the solution uses a </a:t>
            </a:r>
            <a:r>
              <a:rPr lang="en-US" b="1" dirty="0"/>
              <a:t>Retrieval-Augmented Generation (RAG)</a:t>
            </a:r>
            <a:r>
              <a:rPr lang="en-US" dirty="0"/>
              <a:t> pipeline to retrieve relevant information from trusted sources such as Startup India resources, government policies, funding databases, incubator documents, market research reports, and legal guidelines stored in </a:t>
            </a:r>
            <a:r>
              <a:rPr lang="en-US" b="1" dirty="0"/>
              <a:t>IBM Cloud Object Storage</a:t>
            </a:r>
            <a:r>
              <a:rPr lang="en-US" dirty="0"/>
              <a:t>. These documents are embedded and retrieved to generate accurate, context-aware business recommendations using </a:t>
            </a:r>
            <a:r>
              <a:rPr lang="en-US" b="1" dirty="0"/>
              <a:t>IBM Granite</a:t>
            </a:r>
            <a:r>
              <a:rPr lang="en-US" dirty="0"/>
              <a:t> models.</a:t>
            </a:r>
          </a:p>
          <a:p>
            <a:pPr algn="just"/>
            <a:endParaRPr lang="en-US" dirty="0"/>
          </a:p>
          <a:p>
            <a:pPr algn="just"/>
            <a:r>
              <a:rPr lang="en-US" dirty="0"/>
              <a:t>The system consists of five key agents:</a:t>
            </a:r>
          </a:p>
          <a:p>
            <a:pPr algn="just"/>
            <a:r>
              <a:rPr lang="en-US" b="1" dirty="0"/>
              <a:t>Startup Knowledge Agent</a:t>
            </a:r>
            <a:r>
              <a:rPr lang="en-US" dirty="0"/>
              <a:t> retrieves market research, government schemes, funding opportunities, and legal information using RAG. </a:t>
            </a:r>
          </a:p>
          <a:p>
            <a:pPr algn="just"/>
            <a:r>
              <a:rPr lang="en-US" b="1" dirty="0"/>
              <a:t>Business Planning Agent</a:t>
            </a:r>
            <a:r>
              <a:rPr lang="en-US" dirty="0"/>
              <a:t> generates a complete business blueprint, including the Business Model Canvas, revenue model, budget estimation, and go-to-market strategy. </a:t>
            </a:r>
          </a:p>
          <a:p>
            <a:pPr algn="just"/>
            <a:r>
              <a:rPr lang="en-US" b="1" dirty="0"/>
              <a:t>Market Intelligence Agent</a:t>
            </a:r>
            <a:r>
              <a:rPr lang="en-US" dirty="0"/>
              <a:t> performs competitor analysis, customer segmentation, SWOT analysis, and market opportunity assessment. </a:t>
            </a:r>
          </a:p>
          <a:p>
            <a:pPr algn="just"/>
            <a:r>
              <a:rPr lang="en-US" b="1" dirty="0"/>
              <a:t>Funding &amp; Compliance Agent</a:t>
            </a:r>
            <a:r>
              <a:rPr lang="en-US" dirty="0"/>
              <a:t> recommends investors, startup grants, incubators, accelerators, and relevant legal and regulatory requirements. </a:t>
            </a:r>
          </a:p>
          <a:p>
            <a:pPr algn="just"/>
            <a:r>
              <a:rPr lang="en-US" b="1" dirty="0"/>
              <a:t>Startup Advisor Agent</a:t>
            </a:r>
            <a:r>
              <a:rPr lang="en-US" dirty="0"/>
              <a:t> evaluates startup readiness, identifies risks, and provides AI-powered recommendations to improve business success and investor readiness.</a:t>
            </a:r>
          </a:p>
          <a:p>
            <a:pPr algn="just"/>
            <a:r>
              <a:rPr lang="en-US" dirty="0"/>
              <a:t>The solution includes an </a:t>
            </a:r>
            <a:r>
              <a:rPr lang="en-US" b="1" dirty="0"/>
              <a:t>interactive web dashboard</a:t>
            </a:r>
            <a:r>
              <a:rPr lang="en-US" dirty="0"/>
              <a:t> built with </a:t>
            </a:r>
            <a:r>
              <a:rPr lang="en-US" b="1" dirty="0"/>
              <a:t>Flask, Bootstrap, JavaScript, and Chart.js</a:t>
            </a:r>
            <a:r>
              <a:rPr lang="en-US" dirty="0"/>
              <a:t> that visualizes startup success score, market potential, budget allocation, revenue projections, funding opportunities, competitor comparisons, and implementation roadmap. Users can also download their business blueprint as a professional PDF report.</a:t>
            </a:r>
          </a:p>
          <a:p>
            <a:pPr algn="just"/>
            <a:r>
              <a:rPr lang="en-US" b="1" dirty="0"/>
              <a:t>IBM watsonx.ai</a:t>
            </a:r>
            <a:r>
              <a:rPr lang="en-US" dirty="0"/>
              <a:t> powers the AI reasoning and business plan generation, while </a:t>
            </a:r>
            <a:r>
              <a:rPr lang="en-US" b="1" dirty="0"/>
              <a:t>IBM Granite models</a:t>
            </a:r>
            <a:r>
              <a:rPr lang="en-US" dirty="0"/>
              <a:t> provide intelligent analysis, summarization, and recommendations. </a:t>
            </a:r>
            <a:r>
              <a:rPr lang="en-US" b="1" dirty="0"/>
              <a:t>IBM Cloud Object Storage</a:t>
            </a:r>
            <a:r>
              <a:rPr lang="en-US" dirty="0"/>
              <a:t> securely stores the knowledge base, uploaded documents, and generated reports, enabling an efficient RAG workflow.</a:t>
            </a:r>
          </a:p>
          <a:p>
            <a:pPr algn="just"/>
            <a:endParaRPr lang="en-IN" dirty="0"/>
          </a:p>
          <a:p>
            <a:pPr algn="just"/>
            <a:endParaRPr lang="en-IN" dirty="0"/>
          </a:p>
        </p:txBody>
      </p:sp>
      <p:sp>
        <p:nvSpPr>
          <p:cNvPr id="3" name="TextBox 2"/>
          <p:cNvSpPr txBox="1"/>
          <p:nvPr/>
        </p:nvSpPr>
        <p:spPr>
          <a:xfrm>
            <a:off x="438912" y="429768"/>
            <a:ext cx="12902184" cy="523220"/>
          </a:xfrm>
          <a:prstGeom prst="rect">
            <a:avLst/>
          </a:prstGeom>
          <a:noFill/>
        </p:spPr>
        <p:txBody>
          <a:bodyPr wrap="square" rtlCol="0">
            <a:spAutoFit/>
          </a:bodyPr>
          <a:lstStyle/>
          <a:p>
            <a:r>
              <a:rPr lang="en-US" sz="2800" b="1" dirty="0"/>
              <a:t>Proposed Solution: AI-Powered Startup Blueprint Generator Agent </a:t>
            </a:r>
            <a:endParaRPr lang="en-IN" sz="2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p:cNvSpPr txBox="1"/>
          <p:nvPr/>
        </p:nvSpPr>
        <p:spPr>
          <a:xfrm>
            <a:off x="777240" y="1007852"/>
            <a:ext cx="10515600" cy="5478423"/>
          </a:xfrm>
          <a:prstGeom prst="rect">
            <a:avLst/>
          </a:prstGeom>
          <a:noFill/>
        </p:spPr>
        <p:txBody>
          <a:bodyPr wrap="square" lIns="91440" tIns="45720" rIns="91440" bIns="45720" rtlCol="0" anchor="t">
            <a:spAutoFit/>
          </a:bodyPr>
          <a:lstStyle/>
          <a:p>
            <a:endParaRPr lang="en-US" sz="1600" b="1" dirty="0"/>
          </a:p>
          <a:p>
            <a:r>
              <a:rPr lang="en-US" sz="1600" b="1" dirty="0"/>
              <a:t>IBM Granite Model (e.g., </a:t>
            </a:r>
            <a:r>
              <a:rPr lang="en-US" sz="1600" b="1" dirty="0" err="1"/>
              <a:t>ibm</a:t>
            </a:r>
            <a:r>
              <a:rPr lang="en-US" sz="1600" b="1" dirty="0"/>
              <a:t>/granite-3-3-8b-instruct)</a:t>
            </a:r>
          </a:p>
          <a:p>
            <a:r>
              <a:rPr lang="en-US" sz="1600" dirty="0"/>
              <a:t>Used for </a:t>
            </a:r>
            <a:r>
              <a:rPr lang="en-US" sz="1600" b="1" dirty="0"/>
              <a:t>understanding startup ideas, business reasoning, market analysis, business blueprint generation, competitor analysis, funding recommendations, and personalized startup guidance</a:t>
            </a:r>
            <a:r>
              <a:rPr lang="en-US" sz="1600" dirty="0"/>
              <a:t>.</a:t>
            </a:r>
          </a:p>
          <a:p>
            <a:endParaRPr lang="en-US" sz="1600" dirty="0"/>
          </a:p>
          <a:p>
            <a:r>
              <a:rPr lang="en-US" sz="1600" b="1" dirty="0"/>
              <a:t>IBM watsonx.ai</a:t>
            </a:r>
          </a:p>
          <a:p>
            <a:r>
              <a:rPr lang="en-US" sz="1600" dirty="0"/>
              <a:t>Used for </a:t>
            </a:r>
            <a:r>
              <a:rPr lang="en-US" sz="1600" b="1" dirty="0"/>
              <a:t>accessing and deploying IBM Granite models, prompt execution, AI inference, and secure model management</a:t>
            </a:r>
            <a:r>
              <a:rPr lang="en-US" sz="1600" dirty="0"/>
              <a:t> to generate intelligent startup business plans.</a:t>
            </a:r>
          </a:p>
          <a:p>
            <a:endParaRPr lang="en-US" sz="1600" dirty="0"/>
          </a:p>
          <a:p>
            <a:r>
              <a:rPr lang="en-US" sz="1600" b="1" dirty="0"/>
              <a:t>IBM Cloud Object Storage</a:t>
            </a:r>
          </a:p>
          <a:p>
            <a:r>
              <a:rPr lang="en-US" sz="1600" dirty="0"/>
              <a:t>Used to </a:t>
            </a:r>
            <a:r>
              <a:rPr lang="en-US" sz="1600" b="1" dirty="0"/>
              <a:t>store startup knowledge documents, market research reports, government scheme documents, legal resources, uploaded files, and generated business reports</a:t>
            </a:r>
            <a:r>
              <a:rPr lang="en-US" sz="1600" dirty="0"/>
              <a:t>, enabling efficient document management for the RAG pipeline.</a:t>
            </a:r>
          </a:p>
          <a:p>
            <a:endParaRPr lang="en-US" sz="1600" dirty="0"/>
          </a:p>
          <a:p>
            <a:r>
              <a:rPr lang="en-US" sz="1600" b="1" dirty="0"/>
              <a:t>Retrieval-Augmented Generation (RAG)</a:t>
            </a:r>
          </a:p>
          <a:p>
            <a:r>
              <a:rPr lang="en-US" sz="1600" dirty="0"/>
              <a:t>Used to </a:t>
            </a:r>
            <a:r>
              <a:rPr lang="en-US" sz="1600" b="1" dirty="0"/>
              <a:t>retrieve relevant information from trusted startup resources before generating responses</a:t>
            </a:r>
            <a:r>
              <a:rPr lang="en-US" sz="1600" dirty="0"/>
              <a:t>, ensuring accurate, reliable, and context-aware business recommendations instead of relying only on the language model.</a:t>
            </a:r>
          </a:p>
          <a:p>
            <a:endParaRPr lang="en-US" sz="1600" dirty="0"/>
          </a:p>
          <a:p>
            <a:r>
              <a:rPr lang="en-US" sz="1600" b="1" dirty="0"/>
              <a:t>Vector Database (FAISS / </a:t>
            </a:r>
            <a:r>
              <a:rPr lang="en-US" sz="1600" b="1" dirty="0" err="1"/>
              <a:t>ChromaDB</a:t>
            </a:r>
            <a:r>
              <a:rPr lang="en-US" sz="1600" b="1" dirty="0"/>
              <a:t>)</a:t>
            </a:r>
          </a:p>
          <a:p>
            <a:r>
              <a:rPr lang="en-US" sz="1600" dirty="0"/>
              <a:t>Used to </a:t>
            </a:r>
            <a:r>
              <a:rPr lang="en-US" sz="1600" b="1" dirty="0"/>
              <a:t>store document embeddings and perform semantic search</a:t>
            </a:r>
            <a:r>
              <a:rPr lang="en-US" sz="1600" dirty="0"/>
              <a:t> for retrieving relevant market research, government schemes, funding information, competitor data, and legal documents during the RAG process.</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panose="02020603050405020304"/>
              </a:rPr>
              <a:t>Core Component Used </a:t>
            </a:r>
            <a:endParaRPr sz="2800" b="1" dirty="0">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11156346" cy="6001643"/>
          </a:xfrm>
          <a:prstGeom prst="rect">
            <a:avLst/>
          </a:prstGeom>
          <a:noFill/>
        </p:spPr>
        <p:txBody>
          <a:bodyPr wrap="square" rtlCol="0">
            <a:spAutoFit/>
          </a:bodyPr>
          <a:lstStyle/>
          <a:p>
            <a:r>
              <a:rPr lang="en-US" sz="1600" b="1" dirty="0"/>
              <a:t>1) Chat Input</a:t>
            </a:r>
          </a:p>
          <a:p>
            <a:r>
              <a:rPr lang="en-US" sz="1600" dirty="0"/>
              <a:t>Allows users to enter their startup idea, business goals, industry, budget, target customers, and other business details through a user-friendly interface.</a:t>
            </a:r>
          </a:p>
          <a:p>
            <a:endParaRPr lang="en-US" sz="1600" dirty="0"/>
          </a:p>
          <a:p>
            <a:r>
              <a:rPr lang="en-US" sz="1600" b="1" dirty="0"/>
              <a:t>2) IBM watsonx.ai Agent</a:t>
            </a:r>
          </a:p>
          <a:p>
            <a:r>
              <a:rPr lang="en-US" sz="1600" dirty="0"/>
              <a:t>Processes user requests and coordinates the AI workflow using IBM Granite models to generate startup blueprints and business insights.</a:t>
            </a:r>
          </a:p>
          <a:p>
            <a:endParaRPr lang="en-US" sz="1600" dirty="0"/>
          </a:p>
          <a:p>
            <a:r>
              <a:rPr lang="en-US" sz="1600" b="1" dirty="0"/>
              <a:t>3) IBM Granite Model (Granite-3.3-8B-Instruct)</a:t>
            </a:r>
          </a:p>
          <a:p>
            <a:r>
              <a:rPr lang="en-US" sz="1600" dirty="0"/>
              <a:t>Performs natural language understanding, business reasoning, startup planning, market analysis, competitor analysis, funding recommendations, and business blueprint generation.</a:t>
            </a:r>
          </a:p>
          <a:p>
            <a:endParaRPr lang="en-US" sz="1600" dirty="0"/>
          </a:p>
          <a:p>
            <a:r>
              <a:rPr lang="en-US" sz="1600" b="1" dirty="0"/>
              <a:t>4) RAG (Retrieval-Augmented Generation)</a:t>
            </a:r>
          </a:p>
          <a:p>
            <a:r>
              <a:rPr lang="en-US" sz="1600" dirty="0"/>
              <a:t>Retrieves relevant information from the knowledge base before generating responses, improving the accuracy and reliability of the startup recommendations.</a:t>
            </a:r>
          </a:p>
          <a:p>
            <a:endParaRPr lang="en-US" sz="1600" dirty="0"/>
          </a:p>
          <a:p>
            <a:r>
              <a:rPr lang="en-US" sz="1600" b="1" dirty="0"/>
              <a:t>5) IBM Cloud Object Storage</a:t>
            </a:r>
          </a:p>
          <a:p>
            <a:r>
              <a:rPr lang="en-US" sz="1600" dirty="0"/>
              <a:t>Stores startup knowledge documents, government schemes, legal documents, market research reports, uploaded files, and generated business reports.</a:t>
            </a:r>
          </a:p>
          <a:p>
            <a:endParaRPr lang="en-US" sz="1600" dirty="0"/>
          </a:p>
          <a:p>
            <a:r>
              <a:rPr lang="en-US" sz="1600" b="1" dirty="0"/>
              <a:t>6) Vector Database (FAISS / </a:t>
            </a:r>
            <a:r>
              <a:rPr lang="en-US" sz="1600" b="1" dirty="0" err="1"/>
              <a:t>ChromaDB</a:t>
            </a:r>
            <a:r>
              <a:rPr lang="en-US" sz="1600" b="1" dirty="0"/>
              <a:t>)</a:t>
            </a:r>
          </a:p>
          <a:p>
            <a:r>
              <a:rPr lang="en-US" sz="1600" dirty="0"/>
              <a:t>Stores document embeddings and performs semantic search to retrieve the most relevant information for the RAG pipeline.</a:t>
            </a:r>
          </a:p>
          <a:p>
            <a:endParaRPr lang="en-IN"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panose="02020603050405020304"/>
              </a:rPr>
              <a:t>Application Workflow</a:t>
            </a:r>
            <a:endParaRPr sz="2800" b="1" dirty="0">
              <a:sym typeface="Times New Roman" panose="02020603050405020304"/>
            </a:endParaRPr>
          </a:p>
        </p:txBody>
      </p:sp>
      <p:pic>
        <p:nvPicPr>
          <p:cNvPr id="7" name="Picture 6">
            <a:extLst>
              <a:ext uri="{FF2B5EF4-FFF2-40B4-BE49-F238E27FC236}">
                <a16:creationId xmlns:a16="http://schemas.microsoft.com/office/drawing/2014/main" id="{F0FC3A75-35A8-5A26-BADF-E1464148E6F5}"/>
              </a:ext>
            </a:extLst>
          </p:cNvPr>
          <p:cNvPicPr>
            <a:picLocks noChangeAspect="1"/>
          </p:cNvPicPr>
          <p:nvPr/>
        </p:nvPicPr>
        <p:blipFill>
          <a:blip r:embed="rId3"/>
          <a:stretch>
            <a:fillRect/>
          </a:stretch>
        </p:blipFill>
        <p:spPr>
          <a:xfrm>
            <a:off x="1728216" y="1020667"/>
            <a:ext cx="8130540" cy="5420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6C9EB5C3-2B2F-6191-7976-4AC659402CF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88947C9E-94A3-7A10-AAFB-8FC4FFAF61C2}"/>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Blueprint</a:t>
            </a:r>
            <a:endParaRPr lang="en-US" sz="2800" dirty="0"/>
          </a:p>
        </p:txBody>
      </p:sp>
      <p:pic>
        <p:nvPicPr>
          <p:cNvPr id="7" name="Picture 6">
            <a:extLst>
              <a:ext uri="{FF2B5EF4-FFF2-40B4-BE49-F238E27FC236}">
                <a16:creationId xmlns:a16="http://schemas.microsoft.com/office/drawing/2014/main" id="{7272B925-FB6E-823E-32D6-0EFD49F57A98}"/>
              </a:ext>
            </a:extLst>
          </p:cNvPr>
          <p:cNvPicPr>
            <a:picLocks noChangeAspect="1"/>
          </p:cNvPicPr>
          <p:nvPr/>
        </p:nvPicPr>
        <p:blipFill>
          <a:blip r:embed="rId3"/>
          <a:stretch>
            <a:fillRect/>
          </a:stretch>
        </p:blipFill>
        <p:spPr>
          <a:xfrm>
            <a:off x="1993392" y="992632"/>
            <a:ext cx="7700772" cy="5133848"/>
          </a:xfrm>
          <a:prstGeom prst="rect">
            <a:avLst/>
          </a:prstGeom>
        </p:spPr>
      </p:pic>
    </p:spTree>
    <p:extLst>
      <p:ext uri="{BB962C8B-B14F-4D97-AF65-F5344CB8AC3E}">
        <p14:creationId xmlns:p14="http://schemas.microsoft.com/office/powerpoint/2010/main" val="4242195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p:cNvSpPr txBox="1"/>
          <p:nvPr/>
        </p:nvSpPr>
        <p:spPr>
          <a:xfrm>
            <a:off x="539496" y="28346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p:cNvSpPr txBox="1"/>
          <p:nvPr/>
        </p:nvSpPr>
        <p:spPr>
          <a:xfrm>
            <a:off x="539496" y="1330512"/>
            <a:ext cx="7406640" cy="4770537"/>
          </a:xfrm>
          <a:prstGeom prst="rect">
            <a:avLst/>
          </a:prstGeom>
          <a:noFill/>
        </p:spPr>
        <p:txBody>
          <a:bodyPr wrap="square" rtlCol="0">
            <a:spAutoFit/>
          </a:bodyPr>
          <a:lstStyle/>
          <a:p>
            <a:pPr algn="just"/>
            <a:r>
              <a:rPr lang="en-US" sz="1600" b="1" dirty="0"/>
              <a:t>Role of Agentic AI in Startup Blueprint Generator Agent</a:t>
            </a:r>
          </a:p>
          <a:p>
            <a:pPr algn="just"/>
            <a:endParaRPr lang="en-US" sz="1600" b="1" dirty="0"/>
          </a:p>
          <a:p>
            <a:pPr algn="just"/>
            <a:r>
              <a:rPr lang="en-US" sz="1600" dirty="0"/>
              <a:t>Agentic AI enables the </a:t>
            </a:r>
            <a:r>
              <a:rPr lang="en-US" sz="1600" b="1" dirty="0"/>
              <a:t>Startup Blueprint Generator</a:t>
            </a:r>
            <a:r>
              <a:rPr lang="en-US" sz="1600" dirty="0"/>
              <a:t> to function as an intelligent, autonomous business advisor rather than a simple chatbot. Using </a:t>
            </a:r>
            <a:r>
              <a:rPr lang="en-US" sz="1600" b="1" dirty="0"/>
              <a:t>IBM watsonx.ai</a:t>
            </a:r>
            <a:r>
              <a:rPr lang="en-US" sz="1600" dirty="0"/>
              <a:t> and </a:t>
            </a:r>
            <a:r>
              <a:rPr lang="en-US" sz="1600" b="1" dirty="0"/>
              <a:t>IBM Granite models</a:t>
            </a:r>
            <a:r>
              <a:rPr lang="en-US" sz="1600" dirty="0"/>
              <a:t>, it coordinates multiple specialized agents to generate complete and personalized startup blueprints.</a:t>
            </a:r>
          </a:p>
          <a:p>
            <a:pPr algn="just"/>
            <a:r>
              <a:rPr lang="en-US" sz="1600" dirty="0"/>
              <a:t>Each agent performs a specific task—such as retrieving market research, generating business plans, analyzing competitors, recommending funding opportunities, and identifying legal requirements—while working together to deliver accurate and actionable results. This multi-agent approach improves efficiency and ensures comprehensive business guidance.</a:t>
            </a:r>
          </a:p>
          <a:p>
            <a:pPr algn="just"/>
            <a:r>
              <a:rPr lang="en-US" sz="1600" dirty="0"/>
              <a:t>Agentic AI also provides </a:t>
            </a:r>
            <a:r>
              <a:rPr lang="en-US" sz="1600" b="1" dirty="0"/>
              <a:t>context awareness</a:t>
            </a:r>
            <a:r>
              <a:rPr lang="en-US" sz="1600" dirty="0"/>
              <a:t> by understanding the user's startup idea, industry, business goals, budget, and target customers to generate tailored recommendations. It continuously adapts its responses based on user inputs, making the generated business blueprint more relevant and practical.</a:t>
            </a:r>
          </a:p>
          <a:p>
            <a:pPr algn="just"/>
            <a:r>
              <a:rPr lang="en-US" sz="1600" dirty="0"/>
              <a:t>Additionally, the agents communicate with one another, enabling better decision-making, improved business planning, and intelligent recommendations throughout the startup journey.</a:t>
            </a:r>
          </a:p>
          <a:p>
            <a:pPr algn="just"/>
            <a:endParaRPr lang="en-US" sz="1600" dirty="0"/>
          </a:p>
        </p:txBody>
      </p:sp>
      <p:pic>
        <p:nvPicPr>
          <p:cNvPr id="4" name="Picture 3" descr="How to troubleshoot Agentic AI and Write Effective Debugging Documentation">
            <a:extLst>
              <a:ext uri="{FF2B5EF4-FFF2-40B4-BE49-F238E27FC236}">
                <a16:creationId xmlns:a16="http://schemas.microsoft.com/office/drawing/2014/main" id="{A6D5C775-A0A1-08E9-D635-155C23B5176D}"/>
              </a:ext>
            </a:extLst>
          </p:cNvPr>
          <p:cNvPicPr>
            <a:picLocks noChangeAspect="1"/>
          </p:cNvPicPr>
          <p:nvPr/>
        </p:nvPicPr>
        <p:blipFill>
          <a:blip r:embed="rId3"/>
          <a:stretch>
            <a:fillRect/>
          </a:stretch>
        </p:blipFill>
        <p:spPr>
          <a:xfrm>
            <a:off x="8229600" y="1817132"/>
            <a:ext cx="3572915" cy="35686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endParaRPr sz="2400" b="1" dirty="0">
              <a:sym typeface="Times New Roman" panose="02020603050405020304"/>
            </a:endParaRPr>
          </a:p>
        </p:txBody>
      </p:sp>
      <p:pic>
        <p:nvPicPr>
          <p:cNvPr id="7" name="Picture 6">
            <a:extLst>
              <a:ext uri="{FF2B5EF4-FFF2-40B4-BE49-F238E27FC236}">
                <a16:creationId xmlns:a16="http://schemas.microsoft.com/office/drawing/2014/main" id="{546B9100-6E75-23BB-E640-B584B0654493}"/>
              </a:ext>
            </a:extLst>
          </p:cNvPr>
          <p:cNvPicPr>
            <a:picLocks noChangeAspect="1"/>
          </p:cNvPicPr>
          <p:nvPr/>
        </p:nvPicPr>
        <p:blipFill>
          <a:blip r:embed="rId3"/>
          <a:stretch>
            <a:fillRect/>
          </a:stretch>
        </p:blipFill>
        <p:spPr>
          <a:xfrm>
            <a:off x="537590" y="2468880"/>
            <a:ext cx="5280796" cy="2231136"/>
          </a:xfrm>
          <a:prstGeom prst="rect">
            <a:avLst/>
          </a:prstGeom>
        </p:spPr>
      </p:pic>
      <p:sp>
        <p:nvSpPr>
          <p:cNvPr id="9" name="TextBox 8">
            <a:extLst>
              <a:ext uri="{FF2B5EF4-FFF2-40B4-BE49-F238E27FC236}">
                <a16:creationId xmlns:a16="http://schemas.microsoft.com/office/drawing/2014/main" id="{BB0FDA59-B946-8F3B-5599-104761771D28}"/>
              </a:ext>
            </a:extLst>
          </p:cNvPr>
          <p:cNvSpPr txBox="1"/>
          <p:nvPr/>
        </p:nvSpPr>
        <p:spPr>
          <a:xfrm>
            <a:off x="651510" y="310082"/>
            <a:ext cx="6094476" cy="523220"/>
          </a:xfrm>
          <a:prstGeom prst="rect">
            <a:avLst/>
          </a:prstGeom>
          <a:noFill/>
        </p:spPr>
        <p:txBody>
          <a:bodyPr wrap="square">
            <a:spAutoFit/>
          </a:bodyPr>
          <a:lstStyle/>
          <a:p>
            <a:pPr>
              <a:buClr>
                <a:srgbClr val="051D3A"/>
              </a:buClr>
              <a:buSzPts val="3500"/>
            </a:pPr>
            <a:r>
              <a:rPr lang="en-US" sz="2800" b="1" dirty="0">
                <a:sym typeface="Times New Roman" panose="02020603050405020304"/>
              </a:rPr>
              <a:t>Token Usage</a:t>
            </a:r>
          </a:p>
        </p:txBody>
      </p:sp>
      <p:pic>
        <p:nvPicPr>
          <p:cNvPr id="11" name="Picture 10">
            <a:extLst>
              <a:ext uri="{FF2B5EF4-FFF2-40B4-BE49-F238E27FC236}">
                <a16:creationId xmlns:a16="http://schemas.microsoft.com/office/drawing/2014/main" id="{6798D2D8-967E-BCAF-7DC8-DDBD4577FDA1}"/>
              </a:ext>
            </a:extLst>
          </p:cNvPr>
          <p:cNvPicPr>
            <a:picLocks noChangeAspect="1"/>
          </p:cNvPicPr>
          <p:nvPr/>
        </p:nvPicPr>
        <p:blipFill>
          <a:blip r:embed="rId4"/>
          <a:stretch>
            <a:fillRect/>
          </a:stretch>
        </p:blipFill>
        <p:spPr>
          <a:xfrm>
            <a:off x="6373616" y="2308783"/>
            <a:ext cx="5306884" cy="2488555"/>
          </a:xfrm>
          <a:prstGeom prst="rect">
            <a:avLst/>
          </a:prstGeom>
        </p:spPr>
      </p:pic>
      <p:sp>
        <p:nvSpPr>
          <p:cNvPr id="4" name="TextBox 3">
            <a:extLst>
              <a:ext uri="{FF2B5EF4-FFF2-40B4-BE49-F238E27FC236}">
                <a16:creationId xmlns:a16="http://schemas.microsoft.com/office/drawing/2014/main" id="{96D3F4D0-FC51-9991-CE03-502C8FAF2337}"/>
              </a:ext>
            </a:extLst>
          </p:cNvPr>
          <p:cNvSpPr txBox="1"/>
          <p:nvPr/>
        </p:nvSpPr>
        <p:spPr>
          <a:xfrm>
            <a:off x="1753362" y="1562920"/>
            <a:ext cx="6094476" cy="369332"/>
          </a:xfrm>
          <a:prstGeom prst="rect">
            <a:avLst/>
          </a:prstGeom>
          <a:noFill/>
        </p:spPr>
        <p:txBody>
          <a:bodyPr wrap="square">
            <a:spAutoFit/>
          </a:bodyPr>
          <a:lstStyle/>
          <a:p>
            <a:r>
              <a:rPr lang="en-US" sz="1800" u="sng" dirty="0"/>
              <a:t>Before Prompt</a:t>
            </a:r>
          </a:p>
        </p:txBody>
      </p:sp>
      <p:sp>
        <p:nvSpPr>
          <p:cNvPr id="6" name="TextBox 5">
            <a:extLst>
              <a:ext uri="{FF2B5EF4-FFF2-40B4-BE49-F238E27FC236}">
                <a16:creationId xmlns:a16="http://schemas.microsoft.com/office/drawing/2014/main" id="{C4A2D1C4-AE25-870F-54A1-9078C5EBA3B3}"/>
              </a:ext>
            </a:extLst>
          </p:cNvPr>
          <p:cNvSpPr txBox="1"/>
          <p:nvPr/>
        </p:nvSpPr>
        <p:spPr>
          <a:xfrm>
            <a:off x="7847838" y="1562920"/>
            <a:ext cx="6094476" cy="369332"/>
          </a:xfrm>
          <a:prstGeom prst="rect">
            <a:avLst/>
          </a:prstGeom>
          <a:noFill/>
        </p:spPr>
        <p:txBody>
          <a:bodyPr wrap="square">
            <a:spAutoFit/>
          </a:bodyPr>
          <a:lstStyle/>
          <a:p>
            <a:r>
              <a:rPr lang="en-US" sz="1800" u="sng" dirty="0"/>
              <a:t>After Prompt</a:t>
            </a:r>
          </a:p>
        </p:txBody>
      </p:sp>
      <p:sp>
        <p:nvSpPr>
          <p:cNvPr id="13" name="TextBox 12">
            <a:extLst>
              <a:ext uri="{FF2B5EF4-FFF2-40B4-BE49-F238E27FC236}">
                <a16:creationId xmlns:a16="http://schemas.microsoft.com/office/drawing/2014/main" id="{4DD39760-DC07-9BC4-4772-586855C3BFC9}"/>
              </a:ext>
            </a:extLst>
          </p:cNvPr>
          <p:cNvSpPr txBox="1"/>
          <p:nvPr/>
        </p:nvSpPr>
        <p:spPr>
          <a:xfrm>
            <a:off x="1044702" y="896258"/>
            <a:ext cx="6972300" cy="646331"/>
          </a:xfrm>
          <a:prstGeom prst="rect">
            <a:avLst/>
          </a:prstGeom>
          <a:noFill/>
        </p:spPr>
        <p:txBody>
          <a:bodyPr wrap="square">
            <a:spAutoFit/>
          </a:bodyPr>
          <a:lstStyle/>
          <a:p>
            <a:r>
              <a:rPr lang="en-US" sz="1800" dirty="0"/>
              <a:t>196890 Tokens are used</a:t>
            </a:r>
          </a:p>
          <a:p>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p:cNvSpPr txBox="1"/>
          <p:nvPr/>
        </p:nvSpPr>
        <p:spPr>
          <a:xfrm>
            <a:off x="777240" y="1207008"/>
            <a:ext cx="10506456" cy="5016758"/>
          </a:xfrm>
          <a:prstGeom prst="rect">
            <a:avLst/>
          </a:prstGeom>
          <a:noFill/>
        </p:spPr>
        <p:txBody>
          <a:bodyPr wrap="square" rtlCol="0">
            <a:spAutoFit/>
          </a:bodyPr>
          <a:lstStyle/>
          <a:p>
            <a:pPr algn="just"/>
            <a:r>
              <a:rPr lang="en-US" sz="1600" dirty="0"/>
              <a:t>The proposed </a:t>
            </a:r>
            <a:r>
              <a:rPr lang="en-US" sz="1600" b="1" dirty="0"/>
              <a:t>Startup Blueprint Generator Agent</a:t>
            </a:r>
            <a:r>
              <a:rPr lang="en-US" sz="1600" dirty="0"/>
              <a:t> stands out by combining </a:t>
            </a:r>
            <a:r>
              <a:rPr lang="en-US" sz="1600" b="1" dirty="0"/>
              <a:t>Agentic AI, RAG, and intelligent business planning</a:t>
            </a:r>
            <a:r>
              <a:rPr lang="en-US" sz="1600" dirty="0"/>
              <a:t> into a single AI-powered platform.</a:t>
            </a:r>
          </a:p>
          <a:p>
            <a:pPr algn="just"/>
            <a:r>
              <a:rPr lang="en-US" sz="1600" b="1" dirty="0"/>
              <a:t>Multi-Agent Intelligence</a:t>
            </a:r>
            <a:r>
              <a:rPr lang="en-US" sz="1600" dirty="0"/>
              <a:t> – Instead of a single chatbot, multiple specialized agents collaborate to perform market research, generate business plans, analyze competitors, recommend funding options, and provide legal guidance. </a:t>
            </a:r>
          </a:p>
          <a:p>
            <a:pPr algn="just"/>
            <a:r>
              <a:rPr lang="en-US" sz="1600" b="1" dirty="0"/>
              <a:t>RAG-Based Accuracy</a:t>
            </a:r>
            <a:r>
              <a:rPr lang="en-US" sz="1600" dirty="0"/>
              <a:t> – Integrates real-time knowledge retrieval with AI generation, ensuring business recommendations are based on reliable startup policies, market reports, government schemes, and funding resources. </a:t>
            </a:r>
          </a:p>
          <a:p>
            <a:pPr algn="just"/>
            <a:r>
              <a:rPr lang="en-US" sz="1600" b="1" dirty="0"/>
              <a:t>Personalized Business Blueprints</a:t>
            </a:r>
            <a:r>
              <a:rPr lang="en-US" sz="1600" dirty="0"/>
              <a:t> – Generates customized startup plans based on the user's business idea, industry, budget, target customers, startup stage, and business goals. </a:t>
            </a:r>
          </a:p>
          <a:p>
            <a:pPr algn="just"/>
            <a:r>
              <a:rPr lang="en-US" sz="1600" b="1" dirty="0"/>
              <a:t>Interactive Business Dashboard</a:t>
            </a:r>
            <a:r>
              <a:rPr lang="en-US" sz="1600" dirty="0"/>
              <a:t> – Presents AI-generated insights through visual dashboards, including Startup Success Score, Budget Allocation, Revenue Forecast, Market Analysis, and Funding Readiness. </a:t>
            </a:r>
          </a:p>
          <a:p>
            <a:pPr algn="just"/>
            <a:r>
              <a:rPr lang="en-US" sz="1600" b="1" dirty="0"/>
              <a:t>Investor &amp; Funding Guidance</a:t>
            </a:r>
            <a:r>
              <a:rPr lang="en-US" sz="1600" dirty="0"/>
              <a:t> – Recommends suitable investors, startup grants, incubators, accelerators, and government schemes tailored to the startup. </a:t>
            </a:r>
          </a:p>
          <a:p>
            <a:pPr algn="just"/>
            <a:r>
              <a:rPr lang="en-US" sz="1600" b="1" dirty="0"/>
              <a:t>Comprehensive Startup Planning</a:t>
            </a:r>
            <a:r>
              <a:rPr lang="en-US" sz="1600" dirty="0"/>
              <a:t> – Goes beyond idea generation by providing Business Model Canvas, SWOT Analysis, competitor analysis, legal compliance guidance, and implementation roadmaps. </a:t>
            </a:r>
          </a:p>
          <a:p>
            <a:pPr algn="just"/>
            <a:r>
              <a:rPr lang="en-US" sz="1600" b="1" dirty="0"/>
              <a:t>Scalable &amp; Enterprise-Ready</a:t>
            </a:r>
            <a:r>
              <a:rPr lang="en-US" sz="1600" dirty="0"/>
              <a:t> – Built using </a:t>
            </a:r>
            <a:r>
              <a:rPr lang="en-US" sz="1600" b="1" dirty="0"/>
              <a:t>IBM watsonx.ai</a:t>
            </a:r>
            <a:r>
              <a:rPr lang="en-US" sz="1600" dirty="0"/>
              <a:t>, </a:t>
            </a:r>
            <a:r>
              <a:rPr lang="en-US" sz="1600" b="1" dirty="0"/>
              <a:t>IBM Granite Models</a:t>
            </a:r>
            <a:r>
              <a:rPr lang="en-US" sz="1600" dirty="0"/>
              <a:t>, </a:t>
            </a:r>
            <a:r>
              <a:rPr lang="en-US" sz="1600" b="1" dirty="0"/>
              <a:t>IBM Cloud Object Storage</a:t>
            </a:r>
            <a:r>
              <a:rPr lang="en-US" sz="1600" dirty="0"/>
              <a:t>, and </a:t>
            </a:r>
            <a:r>
              <a:rPr lang="en-US" sz="1600" b="1" dirty="0"/>
              <a:t>RAG</a:t>
            </a:r>
            <a:r>
              <a:rPr lang="en-US" sz="1600" dirty="0"/>
              <a:t>, ensuring scalability, reliability, and secure AI-powered business planning. </a:t>
            </a:r>
          </a:p>
          <a:p>
            <a:pPr algn="just"/>
            <a:r>
              <a:rPr lang="en-US" sz="1600" b="1" dirty="0"/>
              <a:t>This makes the solution a smart, adaptive, and proactive AI startup mentor, not just a basic business plan generator.</a:t>
            </a:r>
            <a:endParaRPr lang="en-US" sz="1600" dirty="0"/>
          </a:p>
          <a:p>
            <a:pPr algn="just"/>
            <a:endParaRPr lang="en-IN"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4C805321-A5B6-F892-737D-025E6EB87A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4B9F0B-8357-F6C6-4EDA-C6D843DBBCE2}"/>
              </a:ext>
            </a:extLst>
          </p:cNvPr>
          <p:cNvSpPr txBox="1"/>
          <p:nvPr/>
        </p:nvSpPr>
        <p:spPr>
          <a:xfrm>
            <a:off x="777240" y="484632"/>
            <a:ext cx="7123176" cy="523220"/>
          </a:xfrm>
          <a:prstGeom prst="rect">
            <a:avLst/>
          </a:prstGeom>
          <a:noFill/>
        </p:spPr>
        <p:txBody>
          <a:bodyPr wrap="square" rtlCol="0">
            <a:spAutoFit/>
          </a:bodyPr>
          <a:lstStyle/>
          <a:p>
            <a:r>
              <a:rPr lang="en-US" sz="2800" b="1" dirty="0"/>
              <a:t>Git Hub Link</a:t>
            </a:r>
            <a:endParaRPr lang="en-IN" sz="2800" b="1" dirty="0"/>
          </a:p>
        </p:txBody>
      </p:sp>
      <p:sp>
        <p:nvSpPr>
          <p:cNvPr id="3" name="TextBox 2">
            <a:extLst>
              <a:ext uri="{FF2B5EF4-FFF2-40B4-BE49-F238E27FC236}">
                <a16:creationId xmlns:a16="http://schemas.microsoft.com/office/drawing/2014/main" id="{96164BF5-79E4-E63B-C568-4BB9B291E4EF}"/>
              </a:ext>
            </a:extLst>
          </p:cNvPr>
          <p:cNvSpPr txBox="1"/>
          <p:nvPr/>
        </p:nvSpPr>
        <p:spPr>
          <a:xfrm>
            <a:off x="777240" y="1207008"/>
            <a:ext cx="10506456" cy="1077218"/>
          </a:xfrm>
          <a:prstGeom prst="rect">
            <a:avLst/>
          </a:prstGeom>
          <a:noFill/>
        </p:spPr>
        <p:txBody>
          <a:bodyPr wrap="square" rtlCol="0">
            <a:spAutoFit/>
          </a:bodyPr>
          <a:lstStyle/>
          <a:p>
            <a:pPr algn="just"/>
            <a:r>
              <a:rPr lang="en-IN" sz="1600" dirty="0"/>
              <a:t>GitHub Repository Link:</a:t>
            </a:r>
          </a:p>
          <a:p>
            <a:pPr algn="just"/>
            <a:endParaRPr lang="en-IN" sz="1600" dirty="0"/>
          </a:p>
          <a:p>
            <a:pPr algn="just"/>
            <a:endParaRPr lang="en-IN" sz="1600" dirty="0"/>
          </a:p>
          <a:p>
            <a:pPr algn="just"/>
            <a:endParaRPr lang="en-IN" sz="1600" dirty="0"/>
          </a:p>
        </p:txBody>
      </p:sp>
      <p:sp>
        <p:nvSpPr>
          <p:cNvPr id="12" name="TextBox 11">
            <a:extLst>
              <a:ext uri="{FF2B5EF4-FFF2-40B4-BE49-F238E27FC236}">
                <a16:creationId xmlns:a16="http://schemas.microsoft.com/office/drawing/2014/main" id="{059DD344-2BAC-3BD1-FA25-4068ADF0F75E}"/>
              </a:ext>
            </a:extLst>
          </p:cNvPr>
          <p:cNvSpPr txBox="1"/>
          <p:nvPr/>
        </p:nvSpPr>
        <p:spPr>
          <a:xfrm>
            <a:off x="777240" y="1745617"/>
            <a:ext cx="6837426" cy="338554"/>
          </a:xfrm>
          <a:prstGeom prst="rect">
            <a:avLst/>
          </a:prstGeom>
          <a:noFill/>
        </p:spPr>
        <p:txBody>
          <a:bodyPr wrap="square">
            <a:spAutoFit/>
          </a:bodyPr>
          <a:lstStyle/>
          <a:p>
            <a:r>
              <a:rPr lang="en-US" sz="1600" dirty="0">
                <a:hlinkClick r:id="rId3"/>
              </a:rPr>
              <a:t>https://github.com/sakthiganesan06/VenturePilot-AI</a:t>
            </a:r>
            <a:endParaRPr lang="en-US" sz="1600" dirty="0"/>
          </a:p>
        </p:txBody>
      </p:sp>
      <p:sp>
        <p:nvSpPr>
          <p:cNvPr id="16" name="TextBox 15">
            <a:extLst>
              <a:ext uri="{FF2B5EF4-FFF2-40B4-BE49-F238E27FC236}">
                <a16:creationId xmlns:a16="http://schemas.microsoft.com/office/drawing/2014/main" id="{B5308112-29CB-944B-A2F0-15579A23D1DD}"/>
              </a:ext>
            </a:extLst>
          </p:cNvPr>
          <p:cNvSpPr txBox="1"/>
          <p:nvPr/>
        </p:nvSpPr>
        <p:spPr>
          <a:xfrm>
            <a:off x="777240" y="2622780"/>
            <a:ext cx="10506456" cy="1077218"/>
          </a:xfrm>
          <a:prstGeom prst="rect">
            <a:avLst/>
          </a:prstGeom>
          <a:noFill/>
        </p:spPr>
        <p:txBody>
          <a:bodyPr wrap="square" rtlCol="0">
            <a:spAutoFit/>
          </a:bodyPr>
          <a:lstStyle/>
          <a:p>
            <a:pPr algn="just"/>
            <a:r>
              <a:rPr lang="en-IN" sz="1600" dirty="0"/>
              <a:t>Deployed Link:</a:t>
            </a:r>
          </a:p>
          <a:p>
            <a:pPr algn="just"/>
            <a:endParaRPr lang="en-IN" sz="1600" dirty="0"/>
          </a:p>
          <a:p>
            <a:pPr algn="just"/>
            <a:endParaRPr lang="en-IN" sz="1600" dirty="0"/>
          </a:p>
          <a:p>
            <a:pPr algn="just"/>
            <a:endParaRPr lang="en-IN" sz="1600" dirty="0"/>
          </a:p>
        </p:txBody>
      </p:sp>
      <p:sp>
        <p:nvSpPr>
          <p:cNvPr id="18" name="TextBox 17">
            <a:extLst>
              <a:ext uri="{FF2B5EF4-FFF2-40B4-BE49-F238E27FC236}">
                <a16:creationId xmlns:a16="http://schemas.microsoft.com/office/drawing/2014/main" id="{FEE15676-4597-51F0-8D70-21F8E1735E10}"/>
              </a:ext>
            </a:extLst>
          </p:cNvPr>
          <p:cNvSpPr txBox="1"/>
          <p:nvPr/>
        </p:nvSpPr>
        <p:spPr>
          <a:xfrm>
            <a:off x="841248" y="3161389"/>
            <a:ext cx="6837426" cy="338554"/>
          </a:xfrm>
          <a:prstGeom prst="rect">
            <a:avLst/>
          </a:prstGeom>
          <a:noFill/>
        </p:spPr>
        <p:txBody>
          <a:bodyPr wrap="square">
            <a:spAutoFit/>
          </a:bodyPr>
          <a:lstStyle/>
          <a:p>
            <a:r>
              <a:rPr lang="en-US" sz="1600" dirty="0">
                <a:hlinkClick r:id="rId4"/>
              </a:rPr>
              <a:t>https://venturepilot-ai-jtqc.onrender.com</a:t>
            </a:r>
            <a:endParaRPr lang="en-US" sz="1600" dirty="0"/>
          </a:p>
        </p:txBody>
      </p:sp>
    </p:spTree>
    <p:extLst>
      <p:ext uri="{BB962C8B-B14F-4D97-AF65-F5344CB8AC3E}">
        <p14:creationId xmlns:p14="http://schemas.microsoft.com/office/powerpoint/2010/main" val="1930912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649224" y="30893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800" b="1" dirty="0">
                <a:sym typeface="Times New Roman" panose="02020603050405020304"/>
              </a:rPr>
              <a:t>Future Scope </a:t>
            </a:r>
            <a:endParaRPr sz="2800" b="1" dirty="0">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a:extLst>
              <a:ext uri="{FF2B5EF4-FFF2-40B4-BE49-F238E27FC236}">
                <a16:creationId xmlns:a16="http://schemas.microsoft.com/office/drawing/2014/main" id="{CFCB8FE1-DB63-901D-F55B-C5BF0BBA31F2}"/>
              </a:ext>
            </a:extLst>
          </p:cNvPr>
          <p:cNvSpPr txBox="1"/>
          <p:nvPr/>
        </p:nvSpPr>
        <p:spPr>
          <a:xfrm>
            <a:off x="649224" y="1012954"/>
            <a:ext cx="10634472" cy="5509200"/>
          </a:xfrm>
          <a:prstGeom prst="rect">
            <a:avLst/>
          </a:prstGeom>
          <a:noFill/>
        </p:spPr>
        <p:txBody>
          <a:bodyPr wrap="square">
            <a:spAutoFit/>
          </a:bodyPr>
          <a:lstStyle/>
          <a:p>
            <a:pPr algn="just"/>
            <a:r>
              <a:rPr lang="en-US" sz="1600" b="1" dirty="0"/>
              <a:t>Live Market Data Integration</a:t>
            </a:r>
            <a:r>
              <a:rPr lang="en-US" sz="1600" dirty="0"/>
              <a:t> – Integrate real-time market trends, startup news, competitor updates, and industry reports for more accurate business insights. </a:t>
            </a:r>
          </a:p>
          <a:p>
            <a:pPr algn="just"/>
            <a:r>
              <a:rPr lang="en-US" sz="1600" b="1" dirty="0"/>
              <a:t>Investor &amp; Mentor Matching</a:t>
            </a:r>
            <a:r>
              <a:rPr lang="en-US" sz="1600" dirty="0"/>
              <a:t> – Connect entrepreneurs with suitable investors, incubators, accelerators, and industry mentors based on their startup profile and funding stage. </a:t>
            </a:r>
          </a:p>
          <a:p>
            <a:pPr algn="just"/>
            <a:r>
              <a:rPr lang="en-US" sz="1600" b="1" dirty="0"/>
              <a:t>Financial Forecasting</a:t>
            </a:r>
            <a:r>
              <a:rPr lang="en-US" sz="1600" dirty="0"/>
              <a:t> – Incorporate AI-powered financial projections, cash flow analysis, break-even analysis, and investment return estimation. </a:t>
            </a:r>
          </a:p>
          <a:p>
            <a:pPr algn="just"/>
            <a:r>
              <a:rPr lang="en-US" sz="1600" b="1" dirty="0"/>
              <a:t>Pitch Deck Generation</a:t>
            </a:r>
            <a:r>
              <a:rPr lang="en-US" sz="1600" dirty="0"/>
              <a:t> – Automatically generate professional investor pitch decks and presentation slides based on the generated business blueprint.</a:t>
            </a:r>
          </a:p>
          <a:p>
            <a:pPr algn="just"/>
            <a:r>
              <a:rPr lang="en-US" sz="1600" b="1" dirty="0"/>
              <a:t>Multilingual Support</a:t>
            </a:r>
            <a:r>
              <a:rPr lang="en-US" sz="1600" dirty="0"/>
              <a:t> – Support multiple regional and international languages to make the platform accessible to entrepreneurs worldwide. </a:t>
            </a:r>
          </a:p>
          <a:p>
            <a:pPr algn="just"/>
            <a:r>
              <a:rPr lang="en-US" sz="1600" b="1" dirty="0"/>
              <a:t>Collaboration Workspace</a:t>
            </a:r>
            <a:r>
              <a:rPr lang="en-US" sz="1600" dirty="0"/>
              <a:t> – Enable co-founders, mentors, and investors to collaborate, review, and edit startup plans in real time. </a:t>
            </a:r>
          </a:p>
          <a:p>
            <a:pPr algn="just"/>
            <a:r>
              <a:rPr lang="en-US" sz="1600" b="1" dirty="0"/>
              <a:t>AI Startup Mentor</a:t>
            </a:r>
            <a:r>
              <a:rPr lang="en-US" sz="1600" dirty="0"/>
              <a:t> – Introduce a conversational AI mentor that provides continuous guidance throughout the startup lifecycle, from idea validation to business growth. </a:t>
            </a:r>
          </a:p>
          <a:p>
            <a:pPr algn="just"/>
            <a:r>
              <a:rPr lang="en-US" sz="1600" b="1" dirty="0"/>
              <a:t>Government &amp; Funding Portal Integration</a:t>
            </a:r>
            <a:r>
              <a:rPr lang="en-US" sz="1600" dirty="0"/>
              <a:t> – Integrate directly with startup portals, government schemes, and funding platforms to provide real-time eligibility checks and application support.</a:t>
            </a:r>
          </a:p>
          <a:p>
            <a:pPr algn="just"/>
            <a:r>
              <a:rPr lang="en-US" sz="1600" b="1" dirty="0"/>
              <a:t>Predictive Startup Success Analysis</a:t>
            </a:r>
            <a:r>
              <a:rPr lang="en-US" sz="1600" dirty="0"/>
              <a:t> – Use machine learning models to predict startup success probability based on market trends, financial planning, and business strategies.</a:t>
            </a:r>
          </a:p>
          <a:p>
            <a:pPr algn="just"/>
            <a:r>
              <a:rPr lang="en-US" sz="1600" b="1" dirty="0"/>
              <a:t>Mobile Application</a:t>
            </a:r>
            <a:r>
              <a:rPr lang="en-US" sz="1600" dirty="0"/>
              <a:t> – Develop Android and iOS applications to provide entrepreneurs with AI-powered startup guidance anytime and anywhere.</a:t>
            </a:r>
          </a:p>
          <a:p>
            <a:pPr algn="just"/>
            <a:endParaRPr lang="en-US" sz="1600" dirty="0"/>
          </a:p>
          <a:p>
            <a:pPr algn="just"/>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4CAFF-CABF-3F4C-2BB6-D2241EA3F26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E1B97A3-1A60-1C13-0427-AA9E655EB01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B66D8A09-F050-4AC2-3787-B338F327D5BC}"/>
              </a:ext>
            </a:extLst>
          </p:cNvPr>
          <p:cNvPicPr>
            <a:picLocks noChangeAspect="1"/>
          </p:cNvPicPr>
          <p:nvPr/>
        </p:nvPicPr>
        <p:blipFill>
          <a:blip r:embed="rId2"/>
          <a:stretch>
            <a:fillRect/>
          </a:stretch>
        </p:blipFill>
        <p:spPr>
          <a:xfrm>
            <a:off x="2300494" y="884488"/>
            <a:ext cx="7264130" cy="5604953"/>
          </a:xfrm>
          <a:prstGeom prst="rect">
            <a:avLst/>
          </a:prstGeom>
        </p:spPr>
      </p:pic>
    </p:spTree>
    <p:extLst>
      <p:ext uri="{BB962C8B-B14F-4D97-AF65-F5344CB8AC3E}">
        <p14:creationId xmlns:p14="http://schemas.microsoft.com/office/powerpoint/2010/main" val="2805900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6DEC8CC6-AD94-5CB2-93BD-BCF062635EE7}"/>
              </a:ext>
            </a:extLst>
          </p:cNvPr>
          <p:cNvPicPr>
            <a:picLocks noChangeAspect="1"/>
          </p:cNvPicPr>
          <p:nvPr/>
        </p:nvPicPr>
        <p:blipFill>
          <a:blip r:embed="rId2"/>
          <a:stretch>
            <a:fillRect/>
          </a:stretch>
        </p:blipFill>
        <p:spPr>
          <a:xfrm>
            <a:off x="2476656" y="875344"/>
            <a:ext cx="6982656" cy="544047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C39FB-C5F3-6D68-0111-50D6248E5C1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37EB702-F0D8-2A95-3AFE-CF622EA81670}"/>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pic>
        <p:nvPicPr>
          <p:cNvPr id="3" name="Picture 2">
            <a:extLst>
              <a:ext uri="{FF2B5EF4-FFF2-40B4-BE49-F238E27FC236}">
                <a16:creationId xmlns:a16="http://schemas.microsoft.com/office/drawing/2014/main" id="{CB6E26D2-BB61-933F-B038-7E07BBB6C875}"/>
              </a:ext>
            </a:extLst>
          </p:cNvPr>
          <p:cNvPicPr>
            <a:picLocks noChangeAspect="1"/>
          </p:cNvPicPr>
          <p:nvPr/>
        </p:nvPicPr>
        <p:blipFill>
          <a:blip r:embed="rId2"/>
          <a:stretch>
            <a:fillRect/>
          </a:stretch>
        </p:blipFill>
        <p:spPr>
          <a:xfrm>
            <a:off x="2509601" y="875344"/>
            <a:ext cx="6972727" cy="5404698"/>
          </a:xfrm>
          <a:prstGeom prst="rect">
            <a:avLst/>
          </a:prstGeom>
        </p:spPr>
      </p:pic>
    </p:spTree>
    <p:extLst>
      <p:ext uri="{BB962C8B-B14F-4D97-AF65-F5344CB8AC3E}">
        <p14:creationId xmlns:p14="http://schemas.microsoft.com/office/powerpoint/2010/main" val="65087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3" name="Picture 2">
            <a:extLst>
              <a:ext uri="{FF2B5EF4-FFF2-40B4-BE49-F238E27FC236}">
                <a16:creationId xmlns:a16="http://schemas.microsoft.com/office/drawing/2014/main" id="{FEEAC611-502A-87DD-DEC6-655FFCA3F20A}"/>
              </a:ext>
            </a:extLst>
          </p:cNvPr>
          <p:cNvPicPr>
            <a:picLocks noChangeAspect="1"/>
          </p:cNvPicPr>
          <p:nvPr/>
        </p:nvPicPr>
        <p:blipFill>
          <a:blip r:embed="rId2"/>
          <a:stretch>
            <a:fillRect/>
          </a:stretch>
        </p:blipFill>
        <p:spPr>
          <a:xfrm>
            <a:off x="1581912" y="903499"/>
            <a:ext cx="8527073" cy="52778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42680-A2DA-636E-7639-7D94040D777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F4DFC87-BD44-0154-F751-2AC492F0708B}"/>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4" name="Picture 3">
            <a:extLst>
              <a:ext uri="{FF2B5EF4-FFF2-40B4-BE49-F238E27FC236}">
                <a16:creationId xmlns:a16="http://schemas.microsoft.com/office/drawing/2014/main" id="{6ED4B07D-F8E9-EFF3-D4B7-9AA43BD4C020}"/>
              </a:ext>
            </a:extLst>
          </p:cNvPr>
          <p:cNvPicPr>
            <a:picLocks noChangeAspect="1"/>
          </p:cNvPicPr>
          <p:nvPr/>
        </p:nvPicPr>
        <p:blipFill>
          <a:blip r:embed="rId2"/>
          <a:stretch>
            <a:fillRect/>
          </a:stretch>
        </p:blipFill>
        <p:spPr>
          <a:xfrm>
            <a:off x="1837620" y="795529"/>
            <a:ext cx="8312220" cy="5140451"/>
          </a:xfrm>
          <a:prstGeom prst="rect">
            <a:avLst/>
          </a:prstGeom>
        </p:spPr>
      </p:pic>
    </p:spTree>
    <p:extLst>
      <p:ext uri="{BB962C8B-B14F-4D97-AF65-F5344CB8AC3E}">
        <p14:creationId xmlns:p14="http://schemas.microsoft.com/office/powerpoint/2010/main" val="2894395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3B745-B0D0-4723-F15A-43E84F0C572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F2D5D5A-D903-F8D1-8BBB-C711FE855994}"/>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4" name="Picture 3">
            <a:extLst>
              <a:ext uri="{FF2B5EF4-FFF2-40B4-BE49-F238E27FC236}">
                <a16:creationId xmlns:a16="http://schemas.microsoft.com/office/drawing/2014/main" id="{F4C8D15C-6F86-8162-6D01-24C53A7629C6}"/>
              </a:ext>
            </a:extLst>
          </p:cNvPr>
          <p:cNvPicPr>
            <a:picLocks noChangeAspect="1"/>
          </p:cNvPicPr>
          <p:nvPr/>
        </p:nvPicPr>
        <p:blipFill>
          <a:blip r:embed="rId2"/>
          <a:stretch>
            <a:fillRect/>
          </a:stretch>
        </p:blipFill>
        <p:spPr>
          <a:xfrm>
            <a:off x="1949431" y="903500"/>
            <a:ext cx="8394777" cy="5195548"/>
          </a:xfrm>
          <a:prstGeom prst="rect">
            <a:avLst/>
          </a:prstGeom>
        </p:spPr>
      </p:pic>
    </p:spTree>
    <p:extLst>
      <p:ext uri="{BB962C8B-B14F-4D97-AF65-F5344CB8AC3E}">
        <p14:creationId xmlns:p14="http://schemas.microsoft.com/office/powerpoint/2010/main" val="679888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F6543-2EF6-0053-BA9F-8563F5BE6BF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56AB6A5-EB1A-9A45-52A1-92BC7A7FC99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3" name="Picture 2">
            <a:extLst>
              <a:ext uri="{FF2B5EF4-FFF2-40B4-BE49-F238E27FC236}">
                <a16:creationId xmlns:a16="http://schemas.microsoft.com/office/drawing/2014/main" id="{E5E44376-E008-BBA7-5917-07D096B13AD7}"/>
              </a:ext>
            </a:extLst>
          </p:cNvPr>
          <p:cNvPicPr>
            <a:picLocks noChangeAspect="1"/>
          </p:cNvPicPr>
          <p:nvPr/>
        </p:nvPicPr>
        <p:blipFill>
          <a:blip r:embed="rId2"/>
          <a:stretch>
            <a:fillRect/>
          </a:stretch>
        </p:blipFill>
        <p:spPr>
          <a:xfrm>
            <a:off x="1737083" y="784264"/>
            <a:ext cx="8385325" cy="5158246"/>
          </a:xfrm>
          <a:prstGeom prst="rect">
            <a:avLst/>
          </a:prstGeom>
        </p:spPr>
      </p:pic>
    </p:spTree>
    <p:extLst>
      <p:ext uri="{BB962C8B-B14F-4D97-AF65-F5344CB8AC3E}">
        <p14:creationId xmlns:p14="http://schemas.microsoft.com/office/powerpoint/2010/main" val="2120319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3D7D9-47A5-FAC3-91BD-D49B60DA6B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00F1BA3-1F77-8A2B-138D-8774E8C8B9B1}"/>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3" name="Picture 2">
            <a:extLst>
              <a:ext uri="{FF2B5EF4-FFF2-40B4-BE49-F238E27FC236}">
                <a16:creationId xmlns:a16="http://schemas.microsoft.com/office/drawing/2014/main" id="{9354B052-8F3F-DD1A-F14C-82204E0FC043}"/>
              </a:ext>
            </a:extLst>
          </p:cNvPr>
          <p:cNvPicPr>
            <a:picLocks noChangeAspect="1"/>
          </p:cNvPicPr>
          <p:nvPr/>
        </p:nvPicPr>
        <p:blipFill>
          <a:blip r:embed="rId2"/>
          <a:stretch>
            <a:fillRect/>
          </a:stretch>
        </p:blipFill>
        <p:spPr>
          <a:xfrm>
            <a:off x="1920241" y="822853"/>
            <a:ext cx="8468555" cy="5285339"/>
          </a:xfrm>
          <a:prstGeom prst="rect">
            <a:avLst/>
          </a:prstGeom>
        </p:spPr>
      </p:pic>
    </p:spTree>
    <p:extLst>
      <p:ext uri="{BB962C8B-B14F-4D97-AF65-F5344CB8AC3E}">
        <p14:creationId xmlns:p14="http://schemas.microsoft.com/office/powerpoint/2010/main" val="1872585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ADED8-82BD-A98A-CC7D-437CB068FE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42FC053-A441-254C-5BFA-D2960C67B9E4}"/>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4" name="Picture 3">
            <a:extLst>
              <a:ext uri="{FF2B5EF4-FFF2-40B4-BE49-F238E27FC236}">
                <a16:creationId xmlns:a16="http://schemas.microsoft.com/office/drawing/2014/main" id="{4912A3F3-3B87-8088-000D-B05A06D81FD0}"/>
              </a:ext>
            </a:extLst>
          </p:cNvPr>
          <p:cNvPicPr>
            <a:picLocks noChangeAspect="1"/>
          </p:cNvPicPr>
          <p:nvPr/>
        </p:nvPicPr>
        <p:blipFill>
          <a:blip r:embed="rId2"/>
          <a:stretch>
            <a:fillRect/>
          </a:stretch>
        </p:blipFill>
        <p:spPr>
          <a:xfrm>
            <a:off x="1631399" y="788646"/>
            <a:ext cx="8929202" cy="5507394"/>
          </a:xfrm>
          <a:prstGeom prst="rect">
            <a:avLst/>
          </a:prstGeom>
        </p:spPr>
      </p:pic>
    </p:spTree>
    <p:extLst>
      <p:ext uri="{BB962C8B-B14F-4D97-AF65-F5344CB8AC3E}">
        <p14:creationId xmlns:p14="http://schemas.microsoft.com/office/powerpoint/2010/main" val="2969156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69393-134B-61A3-A7A0-E647225847C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D3B06CD-8D05-232C-C5EE-8D6FC5775916}"/>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3" name="Picture 2">
            <a:extLst>
              <a:ext uri="{FF2B5EF4-FFF2-40B4-BE49-F238E27FC236}">
                <a16:creationId xmlns:a16="http://schemas.microsoft.com/office/drawing/2014/main" id="{F114146C-B76D-7DE7-59E5-62A2725D2669}"/>
              </a:ext>
            </a:extLst>
          </p:cNvPr>
          <p:cNvPicPr>
            <a:picLocks noChangeAspect="1"/>
          </p:cNvPicPr>
          <p:nvPr/>
        </p:nvPicPr>
        <p:blipFill>
          <a:blip r:embed="rId2"/>
          <a:stretch>
            <a:fillRect/>
          </a:stretch>
        </p:blipFill>
        <p:spPr>
          <a:xfrm>
            <a:off x="1616735" y="903499"/>
            <a:ext cx="8935442" cy="5477665"/>
          </a:xfrm>
          <a:prstGeom prst="rect">
            <a:avLst/>
          </a:prstGeom>
        </p:spPr>
      </p:pic>
    </p:spTree>
    <p:extLst>
      <p:ext uri="{BB962C8B-B14F-4D97-AF65-F5344CB8AC3E}">
        <p14:creationId xmlns:p14="http://schemas.microsoft.com/office/powerpoint/2010/main" val="4047018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1743</Words>
  <Application>Microsoft Office PowerPoint</Application>
  <PresentationFormat>Widescreen</PresentationFormat>
  <Paragraphs>125</Paragraphs>
  <Slides>24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sakthi30116@outlook.com</cp:lastModifiedBy>
  <cp:revision>105</cp:revision>
  <dcterms:created xsi:type="dcterms:W3CDTF">2025-07-08T05:06:00Z</dcterms:created>
  <dcterms:modified xsi:type="dcterms:W3CDTF">2026-07-14T04:51:01Z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5A4DF30BFFB94ACDB1C176C49702DBC3_12</vt:lpwstr>
  </property>
</Properties>
</file>